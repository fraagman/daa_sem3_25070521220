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D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Shape 1"/>
          <p:cNvSpPr/>
          <p:nvPr/>
        </p:nvSpPr>
        <p:spPr>
          <a:xfrm>
            <a:off x="3794760" y="502920"/>
            <a:ext cx="1554480" cy="1554480"/>
          </a:xfrm>
          <a:prstGeom prst="star4">
            <a:avLst/>
          </a:prstGeom>
          <a:solidFill>
            <a:srgbClr val="FF55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463040" cy="320040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426"/>
                </a:solidFill>
              </a:rPr>
              <a:t>TOPIC 1.1.4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MINIMUM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SPANNING TREE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USING KRUSKAL’S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ALGORITHM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Greedy Graph Optimization, Cycle Detection &amp; Disjoint Set Union (DSU)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2519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NAME: OM RAI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SECTION: D(2)  |  PRN: 25070521220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0" y="365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D426"/>
                </a:solidFill>
              </a:rPr>
              <a:t>PRN: 25070521220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0" y="1188720"/>
            <a:ext cx="3657600" cy="283464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FFD4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132588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EXAMPLE GRAPH MST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Selected MST Edges: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(A, B) = 1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(A, C) =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(E, F) = 2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(C, D) = 3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• (D, F) = 4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Total Minimum Weight = 12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5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Rai  |  Section: D(2)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INTRODUCTION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5303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• Given a connected, undirected, weighted graph G = (V, E), a Spanning Tree connects all vertices V with zero cycles using exactly |V| - 1 edges.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• A Minimum Spanning Tree (MST) is the spanning tree with the minimum possible sum of edge weights.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• Formulated by Joseph Kruskal (1956), Kruskal’s Algorithm builds the MST edge-by-edge using a Greedy strategy.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426"/>
                </a:solidFill>
              </a:rPr>
              <a:t>Om Rai  |  PRN: 25070521220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1188720"/>
            <a:ext cx="2560320" cy="1188720"/>
          </a:xfrm>
          <a:prstGeom prst="roundRect">
            <a:avLst/>
          </a:prstGeom>
          <a:solidFill>
            <a:srgbClr val="111111"/>
          </a:solidFill>
          <a:ln w="25400">
            <a:solidFill>
              <a:srgbClr val="FFD4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280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426"/>
                </a:solidFill>
              </a:rPr>
              <a:t>|E| = |V| - 1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D426"/>
                </a:solidFill>
              </a:rPr>
              <a:t>Edges in MST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309360" y="2743200"/>
            <a:ext cx="2560320" cy="1188720"/>
          </a:xfrm>
          <a:prstGeom prst="roundRect">
            <a:avLst/>
          </a:prstGeom>
          <a:solidFill>
            <a:srgbClr val="111111"/>
          </a:solidFill>
          <a:ln w="25400">
            <a:solidFill>
              <a:srgbClr val="FF55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8346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ACYCLIC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Zero Loops Allowed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D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1097280"/>
            <a:ext cx="914400" cy="59436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1645920"/>
            <a:ext cx="914400" cy="59436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2194560"/>
            <a:ext cx="914400" cy="59436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0" y="2743200"/>
            <a:ext cx="914400" cy="59436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3291840"/>
            <a:ext cx="914400" cy="59436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3840480"/>
            <a:ext cx="914400" cy="59436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1.1.4 KRUSKAL'S FUNDAMENTALS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CORE CONCEPTS OF MST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6035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1. GREEDY CHOICE PROPERTY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Always selects the lightest remaining edge in the graph that does not create a cycle.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2. SPANNING FOREST EVOLUTION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Starts with |V| separate single-node trees and merges two components with every valid edge.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3. DISJOINT SET UNION (UNION-FIND)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11111"/>
                </a:solidFill>
              </a:rPr>
              <a:t>Checks if endpoints u and v share the same set leader in O(α(V)) time to prevent cycles.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Om Rai  |  Section: D(2)  |  PRN: 25070521220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5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Rai  |  Section: D(2)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METHODOLOGY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1. Sort all edges E in non-decreasing order of weight.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2. Initialize DSU: place each vertex v in its own set.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3. For each edge (u, v) in sorted order: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     If FIND-SET(u) != FIND-SET(v):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     • Add (u, v) to MST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     • Call UNION(u, v)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4. Stop when MST contains |V| - 1 edges.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212080" y="731520"/>
            <a:ext cx="3474720" cy="3749040"/>
          </a:xfrm>
          <a:prstGeom prst="roundRect">
            <a:avLst/>
          </a:prstGeom>
          <a:solidFill>
            <a:srgbClr val="111111"/>
          </a:solidFill>
          <a:ln w="31750">
            <a:solidFill>
              <a:srgbClr val="FFD4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94960" y="9144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KRUSKAL(G, w)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MST = {}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v in G.V: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MAKE-SET(v)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G.E by weight w asc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(u, v) in G.E: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FIND(u) != FIND(v):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MST = MST U {(u,v)}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UNION(u, v)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MST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426"/>
                </a:solidFill>
              </a:rPr>
              <a:t>Om Rai  |  PRN: 25070521220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5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STEP-BY-STEP DRY RUN TRACE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310896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FFD4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26"/>
                </a:solidFill>
              </a:rPr>
              <a:t>PHASE 1: LIGHTEST EDGES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Edges (A,B)=1, (A,C)=2, and (E,F)=2 are examined first.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Since their endpoints belong to separate sets, all three are ACCEPTED into the MST.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234440"/>
            <a:ext cx="2560320" cy="310896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FFD4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26"/>
                </a:solidFill>
              </a:rPr>
              <a:t>PHASE 2: CYCLE AVOIDANCE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Edge (C,D)=3 is added.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Next, edge (B,D)=3 is tested: FIND(B) == FIND(D) (both in set A). Adding it forms a cycle, so (B,D) is REJECTED!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234440"/>
            <a:ext cx="2560320" cy="3108960"/>
          </a:xfrm>
          <a:prstGeom prst="roundRect">
            <a:avLst/>
          </a:prstGeom>
          <a:solidFill>
            <a:srgbClr val="111111"/>
          </a:solidFill>
          <a:ln w="19050">
            <a:solidFill>
              <a:srgbClr val="FFD4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426"/>
                </a:solidFill>
              </a:rPr>
              <a:t>PHASE 3: MST COMPLETION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Edge (D,F)=4 connects tree {A,B,C,D} with tree {E,F}.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We now have |V|-1 = 5 edges. Algorithm terminates with Minimum Cost = 12.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Rai  |  Section: D(2)  |  PRN: 25070521220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5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TIME &amp; SPACE COMPLEXITY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68880" cy="2468880"/>
          </a:xfrm>
          <a:prstGeom prst="donut">
            <a:avLst/>
          </a:prstGeom>
          <a:solidFill>
            <a:srgbClr val="111111"/>
          </a:solidFill>
          <a:ln w="38100">
            <a:solidFill>
              <a:srgbClr val="FFD42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488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426"/>
                </a:solidFill>
              </a:rPr>
              <a:t>O(E log E)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D426"/>
                </a:solidFill>
              </a:rPr>
              <a:t>Total Time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474720" y="1280160"/>
            <a:ext cx="2468880" cy="13258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13898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426"/>
                </a:solidFill>
              </a:rPr>
              <a:t>1. SORTING EDGES: O(E log E)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Dominates execution time. Equivalent to O(E log V).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2468880" cy="13258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38988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426"/>
                </a:solidFill>
              </a:rPr>
              <a:t>2. DSU FIND &amp; UNION: O(E α(V))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355080" y="1828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Near-constant amortized time using Path Compression.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2834640"/>
            <a:ext cx="2468880" cy="13258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29443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426"/>
                </a:solidFill>
              </a:rPr>
              <a:t>3. AUXILIARY SPACE: O(V + E)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Parent[] and Rank[] arrays of size |V| plus edge list.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834640"/>
            <a:ext cx="2468880" cy="1325880"/>
          </a:xfrm>
          <a:prstGeom prst="roundRect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944368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D426"/>
                </a:solidFill>
              </a:rPr>
              <a:t>4. OPTIMAL FOR SPARSE GRAPHS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33832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Runs significantly faster when E is close to V.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Om Rai  |  Section: D(2)  |  PRN: 25070521220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KRUSKAL’S VS PRIM’S ALGORITHM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426"/>
                </a:solidFill>
              </a:rPr>
              <a:t>EDGE-BASED FOREST MERGING (KRUSKAL)  VS  VERTEX-BASED TREE GROWTH (PRIM)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46888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42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APPROACH STYLE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Kruskal selects globally lightest edges across a forest.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Prim grows one connected component from a start node.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42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3832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STRUCTURES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743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Kruskal uses Sorted Edge List + Disjoint Set Union.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Prim uses Adjacency List + Min-Heap Priority Queue.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965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D426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1264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GRAPH DENSITY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274320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Kruskal excels on Sparse Graphs (E ≈ V).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Prim excels on Dense Graphs (E ≈ V²).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Om Rai  |  Section: D(2)  |  PRN: 25070521220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D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11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3017520"/>
          </a:xfrm>
          <a:prstGeom prst="rect">
            <a:avLst/>
          </a:prstGeom>
          <a:solidFill>
            <a:srgbClr val="FF55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Kruskal’s Algorithm minimizes physical wiring, piping, and networking cost while guaranteeing full connectivity without redundant loops.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91840" y="1463040"/>
            <a:ext cx="2514600" cy="25603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16002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TELECOM &amp; POWER GRIDS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• Optical fiber layout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• High-voltage power grids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• Municipal water &amp; gas pipelines across cities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463040"/>
            <a:ext cx="2514600" cy="256032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1600200"/>
            <a:ext cx="22402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AI CLUSTERING &amp; VLSI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• Single-linkage hierarchical data clustering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• PCB &amp; microchip pin routing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• Image segmentation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Presented by: Om Rai  |  Section: D(2)  |  PRN: 25070521220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1.1.4 MST using Kruskal's Algorithm - Om Rai</dc:title>
  <dc:subject>1.1.4. Minimum Spanning Tree using Kruskal's Algorithm</dc:subject>
  <dc:creator>Om Rai (PRN: 25070521220)</dc:creator>
  <cp:lastModifiedBy>Om Rai (PRN: 25070521220)</cp:lastModifiedBy>
  <cp:revision>1</cp:revision>
  <dcterms:created xsi:type="dcterms:W3CDTF">2026-10-20T11:14:58Z</dcterms:created>
  <dcterms:modified xsi:type="dcterms:W3CDTF">2026-10-20T11:14:58Z</dcterms:modified>
</cp:coreProperties>
</file>